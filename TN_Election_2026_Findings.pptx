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286000" cy="2286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Elections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— Key Findings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743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analysis of the vote flows, seat swings, and structural shifts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reshaped Tamil Nadu's political landscape.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794760"/>
            <a:ext cx="1920240" cy="822960"/>
          </a:xfrm>
          <a:prstGeom prst="rect">
            <a:avLst>
              <a:gd name="adj" fmla="val 666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8221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3794760"/>
            <a:ext cx="1920240" cy="822960"/>
          </a:xfrm>
          <a:prstGeom prst="rect">
            <a:avLst>
              <a:gd name="adj" fmla="val 666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38221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1.72 cr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1460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votes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794760"/>
            <a:ext cx="1920240" cy="822960"/>
          </a:xfrm>
          <a:prstGeom prst="rect">
            <a:avLst>
              <a:gd name="adj" fmla="val 666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8221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344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flipped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3794760"/>
            <a:ext cx="1920240" cy="822960"/>
          </a:xfrm>
          <a:prstGeom prst="rect">
            <a:avLst>
              <a:gd name="adj" fmla="val 666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382219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1228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seats won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official constituency-level results  •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" cy="65836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8778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161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seats shifted across 6 regions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00200"/>
            <a:ext cx="411480" cy="65836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373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6550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Numbers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19385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State-wide seat &amp; vote share overview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77440"/>
            <a:ext cx="411480" cy="65836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146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2432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Flip Story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7157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170+ constituencies changed hands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154680"/>
            <a:ext cx="411480" cy="65836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91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2095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TVK Votes Came From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4930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balance decomposition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931920"/>
            <a:ext cx="411480" cy="65836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690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39867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Vote Share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2702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TVK, DMK, AIADMK by region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82296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822960"/>
            <a:ext cx="411480" cy="65836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9601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8778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Party-wise Losses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11612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bled and how much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160020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1600200"/>
            <a:ext cx="411480" cy="65836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7373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49240" y="16550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Kongu &amp; South: The Decisive Swing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49240" y="19385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AIADMK's heartlands fell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23774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2377440"/>
            <a:ext cx="411480" cy="65836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25146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49240" y="24323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Metro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49240" y="27157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TVK's strongest performance at 46.6%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46320" y="315468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46320" y="3154680"/>
            <a:ext cx="411480" cy="65836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2918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49240" y="32095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349240" y="34930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really tells us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46320" y="393192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46320" y="3931920"/>
            <a:ext cx="411480" cy="65836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40690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49240" y="39867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349240" y="42702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of the Dravidian duopoly?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Numbers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State-wide headline results — 2026 vs 2021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920240" cy="18288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192024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274320" y="17556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seats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029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largest party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777240"/>
            <a:ext cx="1920240" cy="18288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777240"/>
            <a:ext cx="1920240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0058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2450592" y="17556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seats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50592" y="2029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~130 in front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777240"/>
            <a:ext cx="1920240" cy="18288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777240"/>
            <a:ext cx="1920240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0058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4626864" y="17556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seats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26864" y="2029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66 in 2021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03136" y="777240"/>
            <a:ext cx="1920240" cy="18288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777240"/>
            <a:ext cx="192024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03136" y="10058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6803136" y="175564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Ruling front total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03136" y="2029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159 in 2021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2788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State-wide vote share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4320" y="316382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7280" y="3337560"/>
            <a:ext cx="598360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26605" y="33375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351129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97280" y="3502152"/>
            <a:ext cx="6463665" cy="164592"/>
          </a:xfrm>
          <a:prstGeom prst="rect">
            <a:avLst/>
          </a:prstGeom>
          <a:solidFill>
            <a:srgbClr val="DC2626">
              <a:alpha val="45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06665" y="350215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37.7%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97280" y="3685032"/>
            <a:ext cx="4149090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92090" y="3685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385876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0" y="3849624"/>
            <a:ext cx="5709285" cy="164592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2285" y="384962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97280" y="4032504"/>
            <a:ext cx="363474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7740" y="403250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42062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97280" y="4197096"/>
            <a:ext cx="1131570" cy="164592"/>
          </a:xfrm>
          <a:prstGeom prst="rect">
            <a:avLst/>
          </a:prstGeom>
          <a:solidFill>
            <a:srgbClr val="D97706">
              <a:alpha val="45000"/>
            </a:srgbClr>
          </a:solidFill>
          <a:ln w="12700">
            <a:solidFill>
              <a:srgbClr val="D97706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74570" y="419709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97280" y="4379976"/>
            <a:ext cx="685800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0" y="437997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4320" y="455371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PMK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97280" y="4544568"/>
            <a:ext cx="651510" cy="164592"/>
          </a:xfrm>
          <a:prstGeom prst="rect">
            <a:avLst/>
          </a:prstGeom>
          <a:solidFill>
            <a:srgbClr val="059669">
              <a:alpha val="45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94510" y="454456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97280" y="4727448"/>
            <a:ext cx="377190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20190" y="472744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74320" y="490118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97280" y="4892040"/>
            <a:ext cx="737235" cy="164592"/>
          </a:xfrm>
          <a:prstGeom prst="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80235" y="489204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97280" y="5074920"/>
            <a:ext cx="58293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725930" y="507492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4846320"/>
            <a:ext cx="228600" cy="109728"/>
          </a:xfrm>
          <a:prstGeom prst="rect">
            <a:avLst/>
          </a:prstGeom>
          <a:solidFill>
            <a:srgbClr val="64748B">
              <a:alpha val="45000"/>
            </a:srgbClr>
          </a:solidFill>
          <a:ln w="12700">
            <a:solidFill>
              <a:srgbClr val="64748B">
                <a:alpha val="4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4818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280160" y="4846320"/>
            <a:ext cx="228600" cy="10972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554480" y="4818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Geographic Story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distribution across Tamil Nadu's 6 regions — 2021 vs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788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49808"/>
            <a:ext cx="278892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78638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 (58 seats)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13385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Ruling front: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90472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→ 53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" y="1335024"/>
            <a:ext cx="1576552" cy="109728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" y="1463040"/>
            <a:ext cx="2088931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63677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90472" y="16367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→ 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" y="1837944"/>
            <a:ext cx="709448" cy="109728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" y="1965960"/>
            <a:ext cx="197069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23682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13 seats for ruling front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749808"/>
            <a:ext cx="2788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749808"/>
            <a:ext cx="278892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3552" y="78638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Kongu  (33 seats)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56432" y="113385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Ruling front: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62272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→ 25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56432" y="1335024"/>
            <a:ext cx="831273" cy="109728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56432" y="1463040"/>
            <a:ext cx="173181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163677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62272" y="16367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→ 8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56432" y="1837944"/>
            <a:ext cx="1454727" cy="109728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56432" y="1965960"/>
            <a:ext cx="554182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73552" y="23682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13 seats lost by AIADMK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72200" y="749808"/>
            <a:ext cx="2788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749808"/>
            <a:ext cx="2788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78638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Metro  (32 seats)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28232" y="113385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Ruling front: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34072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→ 31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28232" y="1335024"/>
            <a:ext cx="2286000" cy="109728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28232" y="1463040"/>
            <a:ext cx="2214563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163677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34072" y="163677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28232" y="1837944"/>
            <a:ext cx="0" cy="109728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28232" y="1965960"/>
            <a:ext cx="71438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45352" y="236829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Unchanged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8600" y="2871216"/>
            <a:ext cx="2788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28600" y="2871216"/>
            <a:ext cx="278892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" y="290779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 (33 seats)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4632" y="325526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Ruling front: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490472" y="325526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→ 28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4632" y="3456432"/>
            <a:ext cx="2008909" cy="109728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4632" y="3584448"/>
            <a:ext cx="1939636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" y="3758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490472" y="375818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→ 4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4632" y="3959352"/>
            <a:ext cx="277091" cy="109728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4632" y="4087368"/>
            <a:ext cx="277091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1752" y="44897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Stable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0" y="2871216"/>
            <a:ext cx="2788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200400" y="2871216"/>
            <a:ext cx="278892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73552" y="290779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 (37 seats)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456432" y="325526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Ruling front: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462272" y="325526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→ 21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456432" y="3456432"/>
            <a:ext cx="1421027" cy="109728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56432" y="3584448"/>
            <a:ext cx="1297459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56432" y="3758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AIADMK: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462272" y="375818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→ 16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456432" y="3959352"/>
            <a:ext cx="864973" cy="109728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56432" y="4087368"/>
            <a:ext cx="988541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73552" y="44897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slight recovery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172200" y="2871216"/>
            <a:ext cx="27889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172200" y="2871216"/>
            <a:ext cx="278892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45352" y="290779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 (41 seats)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428232" y="325526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Ruling front: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434072" y="325526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→ 22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428232" y="3456432"/>
            <a:ext cx="1282390" cy="109728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28232" y="3584448"/>
            <a:ext cx="1226634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28232" y="375818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AIADMK: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434072" y="375818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→ 19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28232" y="3959352"/>
            <a:ext cx="1003610" cy="109728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428232" y="4087368"/>
            <a:ext cx="105936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45352" y="44897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Stable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Flip Story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of 234 constituencies (70%) changed the winning party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194560" cy="1463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686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seats flipped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2021 &amp;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749808"/>
            <a:ext cx="1005840" cy="16367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4310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(130)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2514600"/>
            <a:ext cx="1005840" cy="8138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7843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(66)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0" y="3456432"/>
            <a:ext cx="10058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5021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 (16)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0" y="3950208"/>
            <a:ext cx="1005840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40782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(22)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49440" y="749808"/>
            <a:ext cx="1097280" cy="27523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19888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(108)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9440" y="2743200"/>
            <a:ext cx="1097280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31912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(47)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3630168"/>
            <a:ext cx="1097280" cy="1472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42291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(59)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49440" y="4572000"/>
            <a:ext cx="1097280" cy="4663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46680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(20)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06040" y="48920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winners →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48920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2026 winners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06240" y="7772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flows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06240" y="1097280"/>
            <a:ext cx="10972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0832" y="10972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seats: DMK → TVK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206240" y="1600200"/>
            <a:ext cx="10972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70832" y="160020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seats: AIADMK → TVK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06240" y="2103120"/>
            <a:ext cx="109728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21031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seats: DMK → AIADMK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06240" y="2606040"/>
            <a:ext cx="109728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26060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seats: AIADMK → DMK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06240" y="3108960"/>
            <a:ext cx="10972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70832" y="310896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seats: INC → TVK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06240" y="3611880"/>
            <a:ext cx="2560320" cy="6400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36576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cannibalized votes from every direction — not a traditional swing but a multiparty exodus to one new entrant.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TVK's 1.72 Crore Votes Come From?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balance decomposition across 234 constituencies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2683581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68358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31.9%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49341" y="777240"/>
            <a:ext cx="2405969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9341" y="960120"/>
            <a:ext cx="240596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28.6%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55310" y="777240"/>
            <a:ext cx="1850746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55310" y="960120"/>
            <a:ext cx="18507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06056" y="777240"/>
            <a:ext cx="150583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06056" y="960120"/>
            <a:ext cx="15058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1618488"/>
            <a:ext cx="164592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6002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bleed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1618488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0048" y="16002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bleed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618488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6002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parties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1618488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16002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voters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196596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1965960"/>
            <a:ext cx="109728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057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bleed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834640" y="20574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lakh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" y="23134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31.9% of TVK total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" y="25328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lost 1.74cr → 1.19cr votes. Urban strongholds bled hardest.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196596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965960"/>
            <a:ext cx="109728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2057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bleed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223760" y="20574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lakh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64608" y="23134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28.6% of TVK total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64608" y="25328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1.54cr → 1.05cr. Worst in Kongu (−15.7pp) and South (−15pp).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38328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383280"/>
            <a:ext cx="109728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3474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parties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834640" y="3474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lakh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75488" y="37307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TVK total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" y="39502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MNM dissolved (12.1L), NTK −10.7L, PMK −6.9L, AMMK −6.6L.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338328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383280"/>
            <a:ext cx="109728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3474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voters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223760" y="3474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lakh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864608" y="373075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17.9% of TVK total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64608" y="395020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Turnout rose +6.7%. TVK's youth mobilisation drove first-time voters.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accounting closes to within ~2% — confirming TVK absorbed vote loss from all parties simultaneously.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Vote Share — TVK vs DMK vs AIADMK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share of total votes cast in each region  •  2026 vs 2021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82880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69494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713232"/>
            <a:ext cx="182880" cy="137160"/>
          </a:xfrm>
          <a:prstGeom prst="rect">
            <a:avLst/>
          </a:prstGeom>
          <a:solidFill>
            <a:srgbClr val="DC2626">
              <a:alpha val="45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31136" y="69494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2021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0" y="713232"/>
            <a:ext cx="182880" cy="137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77056" y="69494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0" y="713232"/>
            <a:ext cx="182880" cy="137160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22976" y="69494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2021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49440" y="713232"/>
            <a:ext cx="182880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68896" y="69494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2026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015338"/>
            <a:ext cx="243840" cy="255666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3608" y="2086661"/>
            <a:ext cx="243840" cy="2485339"/>
          </a:xfrm>
          <a:prstGeom prst="rect">
            <a:avLst/>
          </a:prstGeom>
          <a:solidFill>
            <a:srgbClr val="DC2626">
              <a:alpha val="45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5736" y="3238805"/>
            <a:ext cx="243840" cy="1333195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7864" y="3019349"/>
            <a:ext cx="243840" cy="1552651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59992" y="3699662"/>
            <a:ext cx="243840" cy="87233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617720"/>
            <a:ext cx="140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Metro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1814170"/>
            <a:ext cx="140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46.6%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13560" y="2756002"/>
            <a:ext cx="243840" cy="181599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75688" y="2547518"/>
            <a:ext cx="243840" cy="2024482"/>
          </a:xfrm>
          <a:prstGeom prst="rect">
            <a:avLst/>
          </a:prstGeom>
          <a:solidFill>
            <a:srgbClr val="DC2626">
              <a:alpha val="45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37816" y="3447288"/>
            <a:ext cx="243840" cy="11247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99944" y="2832811"/>
            <a:ext cx="243840" cy="1739189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62072" y="3205886"/>
            <a:ext cx="243840" cy="136611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67840" y="4617720"/>
            <a:ext cx="140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67840" y="2554834"/>
            <a:ext cx="140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33.1%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15640" y="2871216"/>
            <a:ext cx="243840" cy="17007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7768" y="2437790"/>
            <a:ext cx="243840" cy="2134210"/>
          </a:xfrm>
          <a:prstGeom prst="rect">
            <a:avLst/>
          </a:prstGeom>
          <a:solidFill>
            <a:srgbClr val="DC2626">
              <a:alpha val="45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39896" y="3299155"/>
            <a:ext cx="243840" cy="1272845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02024" y="2618842"/>
            <a:ext cx="243840" cy="1953158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64152" y="3090672"/>
            <a:ext cx="243840" cy="14813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69920" y="4617720"/>
            <a:ext cx="140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69920" y="2670048"/>
            <a:ext cx="140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2679192"/>
            <a:ext cx="243840" cy="1892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79848" y="2684678"/>
            <a:ext cx="243840" cy="1887322"/>
          </a:xfrm>
          <a:prstGeom prst="rect">
            <a:avLst/>
          </a:prstGeom>
          <a:solidFill>
            <a:srgbClr val="DC2626">
              <a:alpha val="45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41976" y="3167482"/>
            <a:ext cx="243840" cy="140451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04104" y="2404872"/>
            <a:ext cx="243840" cy="2167128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6232" y="3260750"/>
            <a:ext cx="243840" cy="13112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4617720"/>
            <a:ext cx="140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Kongu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0" y="2478024"/>
            <a:ext cx="140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34.5%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19800" y="2766974"/>
            <a:ext cx="243840" cy="180502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81928" y="2344522"/>
            <a:ext cx="243840" cy="2227478"/>
          </a:xfrm>
          <a:prstGeom prst="rect">
            <a:avLst/>
          </a:prstGeom>
          <a:solidFill>
            <a:srgbClr val="DC2626">
              <a:alpha val="45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44056" y="3052267"/>
            <a:ext cx="243840" cy="1519733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06184" y="2728570"/>
            <a:ext cx="243840" cy="1843430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68312" y="3502152"/>
            <a:ext cx="243840" cy="10698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74080" y="4617720"/>
            <a:ext cx="140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74080" y="2565806"/>
            <a:ext cx="140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32.9%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421880" y="2734056"/>
            <a:ext cx="243840" cy="1837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84008" y="2750515"/>
            <a:ext cx="243840" cy="1821485"/>
          </a:xfrm>
          <a:prstGeom prst="rect">
            <a:avLst/>
          </a:prstGeom>
          <a:solidFill>
            <a:srgbClr val="DC2626">
              <a:alpha val="45000"/>
            </a:srgbClr>
          </a:solidFill>
          <a:ln w="12700">
            <a:solidFill>
              <a:srgbClr val="DC2626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46136" y="3222346"/>
            <a:ext cx="243840" cy="134965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08264" y="2827325"/>
            <a:ext cx="243840" cy="1744675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70392" y="3650285"/>
            <a:ext cx="243840" cy="92171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76160" y="4617720"/>
            <a:ext cx="140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376160" y="2532888"/>
            <a:ext cx="140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33.5%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4572000"/>
            <a:ext cx="8412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Party-wise Vote Losses — Who Bled and How Much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State-wide absolute vote counts  •  2021 vs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8412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832104"/>
            <a:ext cx="5745480" cy="164592"/>
          </a:xfrm>
          <a:prstGeom prst="rect">
            <a:avLst/>
          </a:prstGeom>
          <a:solidFill>
            <a:srgbClr val="DC2626">
              <a:alpha val="35000"/>
            </a:srgbClr>
          </a:solidFill>
          <a:ln w="12700">
            <a:solidFill>
              <a:srgbClr val="DC2626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77200" y="8229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0" y="1024128"/>
            <a:ext cx="3929380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1100" y="101498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412480" y="868680"/>
            <a:ext cx="64008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868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-31.6%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3441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0" y="1335024"/>
            <a:ext cx="5085080" cy="164592"/>
          </a:xfrm>
          <a:prstGeom prst="rect">
            <a:avLst/>
          </a:prstGeom>
          <a:solidFill>
            <a:srgbClr val="2563EB">
              <a:alpha val="3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16800" y="13258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86000" y="1527048"/>
            <a:ext cx="346710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98820" y="151790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412480" y="1371600"/>
            <a:ext cx="64008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1371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-31.9%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1847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0" y="1837944"/>
            <a:ext cx="990600" cy="164592"/>
          </a:xfrm>
          <a:prstGeom prst="rect">
            <a:avLst/>
          </a:prstGeom>
          <a:solidFill>
            <a:srgbClr val="D97706">
              <a:alpha val="35000"/>
            </a:srgbClr>
          </a:solidFill>
          <a:ln w="12700">
            <a:solidFill>
              <a:srgbClr val="D97706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2320" y="1828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286000" y="2029968"/>
            <a:ext cx="660400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2120" y="202082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412480" y="1874520"/>
            <a:ext cx="64008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1874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-35.1%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23500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286000" y="2340864"/>
            <a:ext cx="396240" cy="164592"/>
          </a:xfrm>
          <a:prstGeom prst="rect">
            <a:avLst/>
          </a:prstGeom>
          <a:solidFill>
            <a:srgbClr val="64748B">
              <a:alpha val="35000"/>
            </a:srgbClr>
          </a:solidFill>
          <a:ln w="12700">
            <a:solidFill>
              <a:srgbClr val="64748B">
                <a:alpha val="3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27960" y="23317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331720" y="253288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— party dissolved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412480" y="2377440"/>
            <a:ext cx="64008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2377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–100%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28529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PMK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286000" y="2843784"/>
            <a:ext cx="594360" cy="164592"/>
          </a:xfrm>
          <a:prstGeom prst="rect">
            <a:avLst/>
          </a:prstGeom>
          <a:solidFill>
            <a:srgbClr val="059669">
              <a:alpha val="35000"/>
            </a:srgbClr>
          </a:solidFill>
          <a:ln w="12700">
            <a:solidFill>
              <a:srgbClr val="059669">
                <a:alpha val="3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28346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286000" y="3035808"/>
            <a:ext cx="363220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4940" y="302666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412480" y="2880360"/>
            <a:ext cx="64008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0" y="2880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-39.1%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3355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AMMK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286000" y="3346704"/>
            <a:ext cx="363220" cy="164592"/>
          </a:xfrm>
          <a:prstGeom prst="rect">
            <a:avLst/>
          </a:prstGeom>
          <a:solidFill>
            <a:srgbClr val="D97706">
              <a:alpha val="35000"/>
            </a:srgbClr>
          </a:solidFill>
          <a:ln w="12700">
            <a:solidFill>
              <a:srgbClr val="D97706">
                <a:alpha val="3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94940" y="33375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286000" y="3538728"/>
            <a:ext cx="132080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63800" y="352958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412480" y="3383280"/>
            <a:ext cx="640080" cy="2743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0" y="3383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-60.8%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74320" y="3858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BJP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286000" y="3849624"/>
            <a:ext cx="396240" cy="164592"/>
          </a:xfrm>
          <a:prstGeom prst="rect">
            <a:avLst/>
          </a:prstGeom>
          <a:solidFill>
            <a:srgbClr val="EF6C00">
              <a:alpha val="35000"/>
            </a:srgbClr>
          </a:solidFill>
          <a:ln w="12700">
            <a:solidFill>
              <a:srgbClr val="EF6C00">
                <a:alpha val="3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27960" y="38404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286000" y="4041648"/>
            <a:ext cx="495300" cy="164592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27020" y="403250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15L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412480" y="3886200"/>
            <a:ext cx="640080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0" y="3886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+20.9%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74320" y="43616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VCK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286000" y="4352544"/>
            <a:ext cx="165100" cy="164592"/>
          </a:xfrm>
          <a:prstGeom prst="rect">
            <a:avLst/>
          </a:prstGeom>
          <a:solidFill>
            <a:srgbClr val="1E40AF">
              <a:alpha val="35000"/>
            </a:srgbClr>
          </a:solidFill>
          <a:ln w="12700">
            <a:solidFill>
              <a:srgbClr val="1E40AF">
                <a:alpha val="3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96820" y="43434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5L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286000" y="4544568"/>
            <a:ext cx="165100" cy="16459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96820" y="453542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5L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412480" y="4389120"/>
            <a:ext cx="640080" cy="274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12480" y="43891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4727448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48646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2286000" y="4892040"/>
            <a:ext cx="56794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11160" y="4892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172L  (NEW)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286000" y="4846320"/>
            <a:ext cx="228600" cy="109728"/>
          </a:xfrm>
          <a:prstGeom prst="rect">
            <a:avLst/>
          </a:prstGeom>
          <a:solidFill>
            <a:srgbClr val="64748B">
              <a:alpha val="45000"/>
            </a:srgbClr>
          </a:solidFill>
          <a:ln w="12700">
            <a:solidFill>
              <a:srgbClr val="64748B">
                <a:alpha val="45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60320" y="4818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00400" y="4846320"/>
            <a:ext cx="228600" cy="109728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0" y="48188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(in lakhs)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Kongu &amp; South — AIADMK's Heartlands Fell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regions that decided the election outcome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14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41148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955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KONGU  (33 seats)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11887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984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34.5%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share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37360" y="1234440"/>
            <a:ext cx="11887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12984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-15.7pp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37360" y="16642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loss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63240" y="1234440"/>
            <a:ext cx="11887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63240" y="12984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-8.8pp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063240" y="16642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loss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148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Ruling front seats: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148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2021: 12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404872"/>
            <a:ext cx="1263535" cy="201168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24048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25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2633472"/>
            <a:ext cx="263236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26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seats: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2926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2021: 21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182112"/>
            <a:ext cx="2211185" cy="201168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1821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410712"/>
            <a:ext cx="842356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70332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2021, AIADMK actually led this western belt 21–12. By 2026 the ruling front reversed it 25–8 — a 13-seat swing in just 33 seats. AIADMK's worst proportional loss anywhere.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4343400"/>
            <a:ext cx="3794760" cy="475488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37083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13-seat swing against AIADMK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749808"/>
            <a:ext cx="41148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749808"/>
            <a:ext cx="41148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7955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 (58 seats)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46320" y="1234440"/>
            <a:ext cx="11887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2984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33.5%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846320" y="16642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share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72200" y="1234440"/>
            <a:ext cx="11887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12984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-15.0pp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172200" y="16642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loss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98080" y="1234440"/>
            <a:ext cx="11887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0" y="12984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-8.5pp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498080" y="16642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loss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2148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Ruling front seats: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78040" y="2148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2021: 40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46320" y="2404872"/>
            <a:ext cx="2396359" cy="201168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24048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53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46320" y="2633472"/>
            <a:ext cx="3175175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2926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seats: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178040" y="2926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2021: 18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3182112"/>
            <a:ext cx="1078361" cy="201168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78040" y="31821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5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846320" y="3410712"/>
            <a:ext cx="299545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70332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decisive regional flip. South was already the front's strongest area at 40 seats, but TVK pushed it to 53 — draining AIADMK from 18 to a mere 5 in Tirunelveli–Kanyakumari.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46320" y="4343400"/>
            <a:ext cx="3794760" cy="47548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4370832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AIADMK: 18 → 5 seats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about Tamil Nadu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384048" cy="1298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07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Symmetrical bleed from both Dravidian parties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207008"/>
            <a:ext cx="3611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lost 13.5pp; AIADMK lost 12.1pp. The near-identical magnitude rules out a simple anti-incumbency swing — this was a cross-cutting rejection of the 50-year Dravidian duopoly itself.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67128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67128"/>
            <a:ext cx="384048" cy="12984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24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22402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Metro was TVK's strongest region at 46.6%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624328"/>
            <a:ext cx="3611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Urban, educated, first-time voters coalesced behind TVK most sharply in the capital region, where DMK had been dominant at 45%. This urban collapse is historically unprecedented.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584448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84448"/>
            <a:ext cx="384048" cy="12984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3657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AIADMK's southern &amp; western heartlands collapsed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041648"/>
            <a:ext cx="3611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Kongu and South — AIADMK's twin pillars since 1989 — both reversed. AIADMK fell from 21 to 8 seats in Kongu, and from 18 to 5 in South. Without these two regions it cannot form a viable opposition.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749808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749808"/>
            <a:ext cx="384048" cy="1298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07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82296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MNM's 12 lakh votes were a hidden windfall for TVK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1207008"/>
            <a:ext cx="3611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 Haasan's MNM dissolved before 2026, transferring ~12.1 lakh voters with no natural home. TVK's cosmopolitan appeal made it the obvious destination — a crucial and underappreciated vote source.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167128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167128"/>
            <a:ext cx="38404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624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12080" y="22402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voters were the decisive margin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2624328"/>
            <a:ext cx="3611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30.9 lakh net new voters (+6.7% turnout) gave TVK its comfortable majority. Vijay's youth-mobilisation strategy converted first-time voters into a structural bloc — a pattern that could sustain TVK through future cycles.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584448"/>
            <a:ext cx="41605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584448"/>
            <a:ext cx="384048" cy="12984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041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12080" y="36576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still retains a viable base — 59 seats, 24% share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12080" y="4041648"/>
            <a:ext cx="3611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collapse, DMK's 24% vote share and 59 seats mean it remains the second-largest formation. Its alliance with TVK allowed it to survive; the real test is 2031, when TVK will likely contest independently.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of the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Dravidian duopoly?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65760" y="1993392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217627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21488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won 108 seats and 34.9% of votes — as a first-time contestant.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267919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265176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DMK and AIADMK shed ~30% of their vote base in a single election.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318211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31546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vote flow was symmetrical: TVK drew roughly equally from both Dravidian blocs plus new voters.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368503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36576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AIADMK's traditional heartlands (Kongu, South) have now flipped — its path back is unclear.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418795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41605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survives as TVK's junior partner, but the alliance dynamic will shift dramatically by 2031.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2026 — Data Analysis Report  •  All figures based on official constituency results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Tamil Nadu 2026 Assembly Elections — Key Findings</dc:title>
  <dc:subject>PptxGenJS Presentation</dc:subject>
  <dc:creator>PptxGenJS</dc:creator>
  <cp:lastModifiedBy>PptxGenJS</cp:lastModifiedBy>
  <cp:revision>1</cp:revision>
  <dcterms:created xsi:type="dcterms:W3CDTF">2026-05-23T04:15:59Z</dcterms:created>
  <dcterms:modified xsi:type="dcterms:W3CDTF">2026-05-23T04:15:59Z</dcterms:modified>
</cp:coreProperties>
</file>